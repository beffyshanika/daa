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FFY A SHANIKA" userId="076f597e539d84e0" providerId="LiveId" clId="{D0484BD0-F300-4682-A48E-CE1911BF95B2}"/>
    <pc:docChg chg="delSld">
      <pc:chgData name="BEFFY A SHANIKA" userId="076f597e539d84e0" providerId="LiveId" clId="{D0484BD0-F300-4682-A48E-CE1911BF95B2}" dt="2026-07-25T08:49:08.284" v="0" actId="47"/>
      <pc:docMkLst>
        <pc:docMk/>
      </pc:docMkLst>
      <pc:sldChg chg="del">
        <pc:chgData name="BEFFY A SHANIKA" userId="076f597e539d84e0" providerId="LiveId" clId="{D0484BD0-F300-4682-A48E-CE1911BF95B2}" dt="2026-07-25T08:49:08.284" v="0" actId="47"/>
        <pc:sldMkLst>
          <pc:docMk/>
          <pc:sldMk cId="2640856579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B9D0-C0BF-BB77-60FF-C9668721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A05CB-2F39-311E-E5A1-19FC2F7E6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6BA78-495C-00FC-6274-76E1B98A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FE66-6439-4951-A81E-CF7E8264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52E96-AA0B-637B-13C2-B6A873B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1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EEE9-2BB9-5CBA-1B79-A48CF0EF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89F4-D35C-BB7E-FF7D-1ECB08FCB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5B429-BFE5-8BAE-ADFA-BDACAE62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4FF0-3D59-D2DB-31BA-D2F42A7B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798B6-3EF6-37CB-4A7E-0628B7D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30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0919-EFBF-FBDB-6B39-06D92774B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6EB35-30C9-84FB-6F62-CC40FE878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66CF3-BB5F-C3EB-096A-BB779799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8A3F0-D5A4-9277-0FAC-5C01D331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BBE3-5F84-D50A-36A4-EEFC6826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84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6A1D-FDF7-7611-33A6-C5DF13E8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18B6-F55C-1FB1-1AE4-FD6A918A5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65B7-EC79-21F6-2A15-66DB65E56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76935-5228-D2A9-746F-E8121475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96CBE-D51E-5EB7-E740-105C2F22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76205-183B-7228-F8A4-9BCCBDBA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5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0B1A-D874-62B9-BAA8-A8CF8AD8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B9778-B573-FED3-5922-58053FF01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9DFB9-912D-788E-8E8F-61C720CBB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FB822-D2FB-F007-EF89-96E5A8F6C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AAF5A-D63D-886B-5919-03D0F3178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F6F9F-936B-6672-ED68-4EAD5123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20967-2956-3075-3BE4-E10292E1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676B9-81C8-7039-A71D-A9905FFB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63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ADCA-A91B-DCA8-574B-63868D30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68D32-BB7D-AF3B-8060-B2D68534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E70A8-D490-985C-CC33-9C3B076D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10C7C-EFF8-ECB8-D130-1147325E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48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42ADD-BF70-C78A-7E4D-DC828D9B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8B514-24C5-7CAE-2F21-97E71DFD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A37C0-F550-8F66-DB41-1A8F534E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87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B2A6-863F-918A-FBD0-C74B8861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6C438-3F48-6B29-7DCC-D6E03288C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62279-25A6-CCD1-DC79-F825318F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CAA7F-2DA0-DAD5-7E95-EA5BC8AA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1B532-453E-A074-8556-755A8AAB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B5BFD-FDB5-251B-1E77-DBE3A986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07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5E97-2600-2A29-DEF1-73120771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F75E4-D25D-D2C3-42EC-CAADA71A5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47C31-2B34-99C5-5411-C74AB358C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0AA24-19DC-B158-24E0-BFA607FD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01D5B-ECC0-57FD-A33F-4FC28E51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B0F49-6746-97E0-BAA7-B444D2D9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07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00AF-E7D4-9AA4-8475-4AD450AB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AF597-77D3-60ED-E544-88A09C36C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8D7E-8D5C-F7BF-3C0A-461C7E8E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C5421-8668-D7C6-083A-662CDCE4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16BD-C449-7C9A-F170-87939AC5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65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B8B9D-5540-7DB2-AEFE-69D962CFC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C0788-4D77-31EF-95F2-3F3CDCB60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D4F1-F56C-7603-F301-3E39ABBF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C70A1-0C96-D1C4-81B9-FB05FBE9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CABB6-F2C5-5710-38EC-C86EA8F9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10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68FA54-64FB-54C9-2E7B-2A2F90C9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92370-17A4-B510-585E-43D021B45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5A773-5745-E601-E3D9-A1109EE8E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A2704-7BF4-4C74-A05B-7F13AC9F4DE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BE236-7E3D-B0AF-BF60-E3E0ED877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1933A-E97B-D8FD-6014-A2F19737B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1F73F-A54D-4D21-8F3F-C67A2C89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73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D3B8-E84B-1C8F-6725-0CBE998A8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5767"/>
            <a:ext cx="9144000" cy="678273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 of Constant, Linear, and Linearithmic Growth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CSA0620-Design and Analysis of Algorithms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7C35D5-EC84-912F-E817-4CA64AA94991}"/>
              </a:ext>
            </a:extLst>
          </p:cNvPr>
          <p:cNvSpPr txBox="1"/>
          <p:nvPr/>
        </p:nvSpPr>
        <p:spPr>
          <a:xfrm>
            <a:off x="7934632" y="4562168"/>
            <a:ext cx="24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78593-79B0-BCD8-1548-08CBAB5957B4}"/>
              </a:ext>
            </a:extLst>
          </p:cNvPr>
          <p:cNvSpPr txBox="1"/>
          <p:nvPr/>
        </p:nvSpPr>
        <p:spPr>
          <a:xfrm>
            <a:off x="1524000" y="4562168"/>
            <a:ext cx="2585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 Sairam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BA5A2-5144-FEA3-5916-B1960388414B}"/>
              </a:ext>
            </a:extLst>
          </p:cNvPr>
          <p:cNvSpPr txBox="1"/>
          <p:nvPr/>
        </p:nvSpPr>
        <p:spPr>
          <a:xfrm>
            <a:off x="8377085" y="4562168"/>
            <a:ext cx="3362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Beffy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Shanika(192511387)</a:t>
            </a:r>
          </a:p>
        </p:txBody>
      </p:sp>
    </p:spTree>
    <p:extLst>
      <p:ext uri="{BB962C8B-B14F-4D97-AF65-F5344CB8AC3E}">
        <p14:creationId xmlns:p14="http://schemas.microsoft.com/office/powerpoint/2010/main" val="2898585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EACB-A65D-26CA-1206-B7F4384F7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6" y="1781125"/>
            <a:ext cx="3519948" cy="81459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79126-C86D-FA8A-E462-8C7CED356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2907890"/>
            <a:ext cx="9016181" cy="3188110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Algorithm Complexity?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complexity measures how execution time changes with input size. 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choose efficient algorithms. 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input size increases, performance becomes important. 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is represented using Big O notation. </a:t>
            </a:r>
          </a:p>
          <a:p>
            <a:endParaRPr lang="en-IN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042C377C-8C2B-19D9-B01D-26569A79B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1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75D0-A2F0-F6B1-46BF-61F5EFB95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2146"/>
            <a:ext cx="9144000" cy="824424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8A458-1D76-FEF2-8C16-17DE3FD08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818" y="2269181"/>
            <a:ext cx="9851923" cy="421095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building software, we must select algorithms that remain efficient as data grows.</a:t>
            </a:r>
          </a:p>
          <a:p>
            <a:pPr algn="l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 may work with any algorithm. 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require efficient algorithms. 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algorithm selection increases execution time and resource usage. </a:t>
            </a:r>
          </a:p>
          <a:p>
            <a:pPr algn="l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 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 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 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which scales better.</a:t>
            </a:r>
          </a:p>
          <a:p>
            <a:endParaRPr lang="en-IN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E6C1E7F3-7F6A-8082-6287-419C0E759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200881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2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FA87-6B07-09BE-A1F3-93ED79E83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9583"/>
            <a:ext cx="9144000" cy="745766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Growth Rates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40276F5E-CB6D-1CFE-C8C5-1583139BF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6ECF89-2C12-BC4D-5587-3AF9F4B2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55762"/>
              </p:ext>
            </p:extLst>
          </p:nvPr>
        </p:nvGraphicFramePr>
        <p:xfrm>
          <a:off x="963561" y="3013044"/>
          <a:ext cx="10000842" cy="2722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614">
                  <a:extLst>
                    <a:ext uri="{9D8B030D-6E8A-4147-A177-3AD203B41FA5}">
                      <a16:colId xmlns:a16="http://schemas.microsoft.com/office/drawing/2014/main" val="427328773"/>
                    </a:ext>
                  </a:extLst>
                </a:gridCol>
                <a:gridCol w="3333614">
                  <a:extLst>
                    <a:ext uri="{9D8B030D-6E8A-4147-A177-3AD203B41FA5}">
                      <a16:colId xmlns:a16="http://schemas.microsoft.com/office/drawing/2014/main" val="1624240884"/>
                    </a:ext>
                  </a:extLst>
                </a:gridCol>
                <a:gridCol w="3333614">
                  <a:extLst>
                    <a:ext uri="{9D8B030D-6E8A-4147-A177-3AD203B41FA5}">
                      <a16:colId xmlns:a16="http://schemas.microsoft.com/office/drawing/2014/main" val="10289653"/>
                    </a:ext>
                  </a:extLst>
                </a:gridCol>
              </a:tblGrid>
              <a:tr h="57225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980271"/>
                  </a:ext>
                </a:extLst>
              </a:tr>
              <a:tr h="57225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time always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2748"/>
                  </a:ext>
                </a:extLst>
              </a:tr>
              <a:tr h="57225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grows with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90125"/>
                  </a:ext>
                </a:extLst>
              </a:tr>
              <a:tr h="57225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Linearithmic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faster growth than linear but much better than quadratic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632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46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F4B9-B407-4FD8-7F8F-95CF1518C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7424"/>
            <a:ext cx="9144000" cy="563733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Representation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A5FE5459-4F31-87C2-1A10-BD49F2FDE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123709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12550-31F7-8B31-4D47-9FAA1AF566F4}"/>
              </a:ext>
            </a:extLst>
          </p:cNvPr>
          <p:cNvSpPr txBox="1"/>
          <p:nvPr/>
        </p:nvSpPr>
        <p:spPr>
          <a:xfrm>
            <a:off x="1304740" y="2175279"/>
            <a:ext cx="49741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Execution Time</a:t>
            </a:r>
          </a:p>
          <a:p>
            <a:endParaRPr lang="en-IN" dirty="0"/>
          </a:p>
          <a:p>
            <a:r>
              <a:rPr lang="en-IN" dirty="0"/>
              <a:t>|</a:t>
            </a:r>
          </a:p>
          <a:p>
            <a:r>
              <a:rPr lang="en-IN" dirty="0"/>
              <a:t>|                         O(n log n)</a:t>
            </a:r>
          </a:p>
          <a:p>
            <a:r>
              <a:rPr lang="en-IN" dirty="0"/>
              <a:t>|                      /</a:t>
            </a:r>
          </a:p>
          <a:p>
            <a:r>
              <a:rPr lang="en-IN" dirty="0"/>
              <a:t>|                   /</a:t>
            </a:r>
          </a:p>
          <a:p>
            <a:r>
              <a:rPr lang="en-IN" dirty="0"/>
              <a:t>|                /</a:t>
            </a:r>
          </a:p>
          <a:p>
            <a:r>
              <a:rPr lang="en-IN" dirty="0"/>
              <a:t>|             /</a:t>
            </a:r>
          </a:p>
          <a:p>
            <a:r>
              <a:rPr lang="en-IN" dirty="0"/>
              <a:t>|          /</a:t>
            </a:r>
          </a:p>
          <a:p>
            <a:r>
              <a:rPr lang="en-IN" dirty="0"/>
              <a:t>|       /</a:t>
            </a:r>
          </a:p>
          <a:p>
            <a:r>
              <a:rPr lang="en-IN" dirty="0"/>
              <a:t>|    / O(n)</a:t>
            </a:r>
          </a:p>
          <a:p>
            <a:r>
              <a:rPr lang="en-IN" dirty="0"/>
              <a:t>|   /</a:t>
            </a:r>
          </a:p>
          <a:p>
            <a:r>
              <a:rPr lang="en-IN" dirty="0"/>
              <a:t>|__/_____________________________</a:t>
            </a:r>
          </a:p>
          <a:p>
            <a:r>
              <a:rPr lang="en-IN" dirty="0"/>
              <a:t> O(1)</a:t>
            </a:r>
          </a:p>
          <a:p>
            <a:r>
              <a:rPr lang="en-IN" dirty="0"/>
              <a:t>-----------------------------------------&gt; Input Size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57511-89B9-4FF6-CBAC-D32A0E51FB6A}"/>
              </a:ext>
            </a:extLst>
          </p:cNvPr>
          <p:cNvSpPr txBox="1"/>
          <p:nvPr/>
        </p:nvSpPr>
        <p:spPr>
          <a:xfrm>
            <a:off x="6486144" y="2840736"/>
            <a:ext cx="47670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 is a flat line.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 increases steadily.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 grows faster but remains practical.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90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276E-5C8C-4752-8778-BF1AD46E4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828800"/>
            <a:ext cx="9144000" cy="91440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99C94-C90A-CC95-9F00-AAB0E2A19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0" y="3429000"/>
            <a:ext cx="3528060" cy="2548890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scalability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never changes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5DA4B46A-521B-DD7C-5302-B90B3748B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40232-3649-A5E7-82F0-5810D5635836}"/>
              </a:ext>
            </a:extLst>
          </p:cNvPr>
          <p:cNvSpPr txBox="1"/>
          <p:nvPr/>
        </p:nvSpPr>
        <p:spPr>
          <a:xfrm>
            <a:off x="4530090" y="3429000"/>
            <a:ext cx="31318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medium-sized datasets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increases directly with data size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83AC3-EEBE-0DA4-E721-67CFDB613357}"/>
              </a:ext>
            </a:extLst>
          </p:cNvPr>
          <p:cNvSpPr txBox="1"/>
          <p:nvPr/>
        </p:nvSpPr>
        <p:spPr>
          <a:xfrm>
            <a:off x="8241030" y="3429000"/>
            <a:ext cx="36347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O(n log 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for sorting large 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than O(n²)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real-world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47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0684-CA61-D56F-E1CA-422CEE34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76"/>
            <a:ext cx="10515600" cy="82591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E2360-084E-923B-E63B-6F4A3E600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316" y="2713702"/>
            <a:ext cx="9829800" cy="30503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fastest performance because its execution time remains constant regardless of the input size.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easy to implement and works well for applications that process data sequentially.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an efficient balance between speed and scalability, making it ideal for sorting large datasets.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01ADD147-03F4-32CA-FB9D-02FEB2B04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22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7E55B-F023-075B-EC35-13C2CEB4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5752" y="3429000"/>
            <a:ext cx="9073896" cy="193852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indexing, Hash table lookup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Search, Reading a list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Sort, Heap Sort, Quick Sort (average case)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812A3DC0-1EF4-DCCC-A319-9F624DB9E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0F0F1-1964-83AD-ACC0-2392CDEDD700}"/>
              </a:ext>
            </a:extLst>
          </p:cNvPr>
          <p:cNvSpPr txBox="1"/>
          <p:nvPr/>
        </p:nvSpPr>
        <p:spPr>
          <a:xfrm>
            <a:off x="3060192" y="2121408"/>
            <a:ext cx="5437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</a:t>
            </a:r>
          </a:p>
        </p:txBody>
      </p:sp>
    </p:spTree>
    <p:extLst>
      <p:ext uri="{BB962C8B-B14F-4D97-AF65-F5344CB8AC3E}">
        <p14:creationId xmlns:p14="http://schemas.microsoft.com/office/powerpoint/2010/main" val="152734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3732-5AAF-2A3C-C90B-90D0F3D38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4517"/>
            <a:ext cx="9144000" cy="119411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E58E4-94A4-700D-DFD6-D3EAD7D9E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882" y="3023616"/>
            <a:ext cx="9144000" cy="334060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efficient because execution time remains constant.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simple sequential operations.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preferred choice for sorting and scalable applications. Selecting the correct algorithm improves speed and resource utilization.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200881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076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AD6A-091D-DAD4-C54B-27F870CF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1779397"/>
            <a:ext cx="4803648" cy="56146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B92AE-01A9-BEB3-8CC0-0239C192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0321"/>
            <a:ext cx="10515600" cy="361664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Colomer, P., Deppe, C., Boche, H., &amp; Winter, A. (2025, October). Deterministic identification in maximally asymmetric error regimes.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WIRELESS 2025; 30th European Wireless Conference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160-165). VDE.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Lumpp, F.,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Fummi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Patel, H. D., &amp; Bombieri, N. (2023). Enabling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orchestration of mixed-criticality software for autonomous mobile robots.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Robotics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540-553.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Jiao, X., &amp; Gao, H. (2025). P-order: Unified Convergence Analysis for Nonlinear Iterative Methods.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arXiv:2503.09478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Vyas, H., &amp; Bhardwaj, R. G. (2026). Comparative Evaluation of ChatGPT and DeepSeek for Competitive Programming: International Collegiate Programming Contest Case.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7757033.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10EE352A-D281-AEE1-BAF8-A2A3DAA3F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1" y="3778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872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1222-299D-44FD-0C29-F7F4EEADD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2800985"/>
            <a:ext cx="10515600" cy="14784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42703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613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Comparative Study of Constant, Linear, and Linearithmic Growth  CSA0620-Design and Analysis of Algorithms</vt:lpstr>
      <vt:lpstr>Introduction</vt:lpstr>
      <vt:lpstr>Problem Statement</vt:lpstr>
      <vt:lpstr>Understanding Growth Rates</vt:lpstr>
      <vt:lpstr>Graph Representation</vt:lpstr>
      <vt:lpstr>Performance Analysis</vt:lpstr>
      <vt:lpstr>Advantages</vt:lpstr>
      <vt:lpstr>PowerPoint Presentation</vt:lpstr>
      <vt:lpstr>Conclusion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BEFFY A SHANIKA</dc:creator>
  <cp:lastModifiedBy>BEFFY A SHANIKA</cp:lastModifiedBy>
  <cp:revision>2</cp:revision>
  <dcterms:created xsi:type="dcterms:W3CDTF">2026-07-22T15:53:22Z</dcterms:created>
  <dcterms:modified xsi:type="dcterms:W3CDTF">2026-07-25T08:49:18Z</dcterms:modified>
</cp:coreProperties>
</file>